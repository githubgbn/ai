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gent-RL/ReCall" TargetMode="External"/><Relationship Id="rId2" Type="http://schemas.openxmlformats.org/officeDocument/2006/relationships/hyperlink" Target="https://arxiv.org/pdf/2503.1947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terGriffinJin/Search-R1" TargetMode="External"/><Relationship Id="rId2" Type="http://schemas.openxmlformats.org/officeDocument/2006/relationships/hyperlink" Target="https://arxiv.org/pdf/2503.1947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UCAIBox/R1-Searcher" TargetMode="External"/><Relationship Id="rId2" Type="http://schemas.openxmlformats.org/officeDocument/2006/relationships/hyperlink" Target="https://arxiv.org/pdf/2503.0559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ZihanWang314/RAGEN" TargetMode="External"/><Relationship Id="rId2" Type="http://schemas.openxmlformats.org/officeDocument/2006/relationships/hyperlink" Target="https://arxiv.org/pdf/2504.2007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eTool-RL/ReTool" TargetMode="External"/><Relationship Id="rId2" Type="http://schemas.openxmlformats.org/officeDocument/2006/relationships/hyperlink" Target="https://arxiv.org/pdf/2504.1153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AIR-NLP/DeepResearcher" TargetMode="External"/><Relationship Id="rId2" Type="http://schemas.openxmlformats.org/officeDocument/2006/relationships/hyperlink" Target="https://arxiv.org/pdf/2504.0316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&#26410;&#20844;&#24320;" TargetMode="External"/><Relationship Id="rId2" Type="http://schemas.openxmlformats.org/officeDocument/2006/relationships/hyperlink" Target="https://arxiv.org/abs/2505.0458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0russwest0/Agent-R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Zillwang/StepSearch" TargetMode="External"/><Relationship Id="rId2" Type="http://schemas.openxmlformats.org/officeDocument/2006/relationships/hyperlink" Target="https://www.arxiv.org/pdf/2505.1510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iliangZeng/Multi-Turn-RL-Agent" TargetMode="External"/><Relationship Id="rId2" Type="http://schemas.openxmlformats.org/officeDocument/2006/relationships/hyperlink" Target="https://arxiv.org/pdf/2505.1182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WebShop/WebSho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lenai/RL4LM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HUDM/AgentBenc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ucidrains/toolformer-pytorc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symyth/ReA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F4C75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3200400"/>
            <a:ext cx="3657600" cy="3657600"/>
          </a:xfrm>
          <a:prstGeom prst="ellipse">
            <a:avLst/>
          </a:prstGeom>
          <a:solidFill>
            <a:srgbClr val="3A86FF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AgentRL调研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强化学习 赋能大模型智能体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" cy="4572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背景与痛点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为什么出现AgentRL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548640" cy="4572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发展历程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14800" y="1965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2019-2026技术演进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548640" cy="4572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560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生态图谱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1480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RL环境库与训练框架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548640" cy="4572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1546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154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项目详解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14800" y="3154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15个开源项目分析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548640" cy="4572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749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749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综合对比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14800" y="3749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多维度对比与选型建议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343400"/>
            <a:ext cx="548640" cy="4572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343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88720" y="4343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趋势预测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114800" y="4343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2026-2028发展路线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背景与痛点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47472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传统Agent困局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规划能力弱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复杂任务拆解能力不足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泛化能力差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新场景适应困难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工具调用不可控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API选择和调用策略缺乏优化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3474720"/>
          </a:xfrm>
          <a:prstGeom prst="rect">
            <a:avLst/>
          </a:prstGeom>
          <a:solidFill>
            <a:srgbClr val="0F4C7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RLVR新范式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7760" y="21031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可验证奖励 (Verifiable Rewards)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数学题、代码等客观任务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无需人工奖励模型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降低训练成本和复杂度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试错学习能力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让Agent真正具备自我进化能力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发展历程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3A86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3A86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RL4LMs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6576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NLP反馈的RL训练框架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94560" y="2697480"/>
            <a:ext cx="457200" cy="457200"/>
          </a:xfrm>
          <a:prstGeom prst="ellipse">
            <a:avLst/>
          </a:prstGeom>
          <a:solidFill>
            <a:srgbClr val="3A86FF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1031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36576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推理-执行协同框架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4720" y="2697480"/>
            <a:ext cx="457200" cy="457200"/>
          </a:xfrm>
          <a:prstGeom prst="ellipse">
            <a:avLst/>
          </a:prstGeom>
          <a:solidFill>
            <a:srgbClr val="3A86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1031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Toolformer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36576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LLM自主工具学习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2697480"/>
            <a:ext cx="457200" cy="457200"/>
          </a:xfrm>
          <a:prstGeom prst="ellipse">
            <a:avLst/>
          </a:prstGeom>
          <a:solidFill>
            <a:srgbClr val="3A86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21031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3291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AgentBench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06240" y="36576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Agent评估基准发布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35040" y="2697480"/>
            <a:ext cx="457200" cy="457200"/>
          </a:xfrm>
          <a:prstGeom prst="ellipse">
            <a:avLst/>
          </a:prstGeom>
          <a:solidFill>
            <a:srgbClr val="3A86FF"/>
          </a:solidFill>
          <a:ln/>
        </p:spPr>
      </p:sp>
      <p:sp>
        <p:nvSpPr>
          <p:cNvPr id="22" name="Text 20"/>
          <p:cNvSpPr/>
          <p:nvPr/>
        </p:nvSpPr>
        <p:spPr>
          <a:xfrm>
            <a:off x="5852160" y="21031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3291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DeepResearcher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36576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真实环境端到端RL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0" y="2697480"/>
            <a:ext cx="457200" cy="457200"/>
          </a:xfrm>
          <a:prstGeom prst="ellipse">
            <a:avLst/>
          </a:prstGeom>
          <a:solidFill>
            <a:srgbClr val="3A86FF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21031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49440" y="3291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AgentRL爆发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RLVR成为主流范式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生态图谱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82880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RL环境库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WebShop - 电商模拟环境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MiniWoB++ - 网页交互任务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ALFWorld - 文本冒险游戏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ToolBench - 工具使用基准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931920" cy="182880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371600"/>
            <a:ext cx="91440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训练框架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9202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RL4LMs - PPO/TRPO算法库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- HuggingFace RL框架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OpenRLHF - 高效RLHF训练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 - 多轮多任务框架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0F4C7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5204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核心算法演进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(人类反馈) → RLVR (可验证奖励) → GRPO (组相对策略优化) → StarPO (轨迹级策略优化)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搜索增强推理框架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将搜索操作融入推理链，动态决策，Multi-hop问题处理，文本思维引导搜索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Qwen2.5-7B/32B训练，展现反思和自我修正能力，多基准测试强泛化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https://github.com/Agent-RL/ReCall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https://arxiv.org/pdf/2503.19470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Search-R1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强化学习搜索优化框架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多轮搜索交互，token掩码稳定训练，基于结果的奖励函数，支持多种检索器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7个问答数据集验证，Qwen2.5-7B提升41%，Qwen2.5-3B提升20%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https://github.com/PeterGriffinJin/Search-R1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https://arxiv.org/pdf/2503.19470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R1-Searcher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两阶段RL搜索增强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结果导向两阶段RL方法，外部搜索系统调用，解决内部知识幻觉问题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显著优于RAG方法，超越闭源GPT-4o-mini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https://github.com/RUCAIBox/R1-Searcher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https://arxiv.org/pdf/2503.05592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多轮智能体RL训练框架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StarPO框架，解决「回声陷阱」，轨迹级信用分配，推理感知奖励信号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多样化初始状态支持，轮次级优势估计，多轮交互自我进化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https://github.com/ZihanWang314/RAGEN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https://arxiv.org/pdf/2504.20073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ReTool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工具增强推理框架（字节跳动）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代码执行与工具调用，动态交错执行，RL优化工具选择策略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AIME基准72.5%准确率，超越OpenAI o1-preview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https://github.com/ReTool-RL/ReTool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https://arxiv.org/pdf/2504.11536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DeepResearcher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深度研究代理框架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真实网络环境端到端RL，涌现认知行为（计划、交叉验证、自我反思）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性能显著优于提示工程和RAG基线，具备诚实评估能力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https://github.com/GAIR-NLP/DeepResearcher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https://arxiv.org/pdf/2504.03160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ZeroSearch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内部搜索能力内化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RL模拟搜索行为，基于课程推出策略，逐步提升推理能力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7B/14B模型检索模块媲美甚至超越真实搜索引擎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未公开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https://arxiv.org/abs/2505.04588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Agent-R1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DeepSeek-R1扩展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RL训练代理型LLM，提升决策和任务执行能力，动态环境自主决策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复杂任务场景决策能力增强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https://github.com/0russwest0/Agent-R1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arXiv链接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StepSearch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分步搜索优化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PPO+细粒度搜索奖励+信息增益监督，逐步近端策略优化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3B模型提升11.2%，7B模型提升4.2%，多跳推理SOTA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https://github.com/Zillwang/StepSearch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https://www.arxiv.org/pdf/2505.15107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Multi-Turn-RL-Agent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多轮工具调用优化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轮次级优势估计，细粒度信用分配，多轮工具使用场景优化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工具执行100%成功率，精确答案匹配50%准确率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https://github.com/SiliangZeng/Multi-Turn-RL-Agent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https://arxiv.org/pdf/2505.11821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WebShop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电商模拟环境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模拟电商环境，网页交互任务，RL训练LLM代理执行搜索和购买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商品搜索和购买任务基准测试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https://github.com/WebShop/WebShop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arXiv链接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RL4LMs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LLM通用RL优化库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PPO/TRPO等算法，自然语言反馈优化，文本生成任务RL训练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通用RL+LLM实验平台，快速原型开发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https://github.com/allenai/RL4LMs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arXiv链接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AgentBench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LLM代理评估基准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多任务评估（游戏、网页导航等），支持RL训练和评估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LLM代理能力全面评估平台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https://github.com/THUDM/AgentBench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arXiv链接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Toolformer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工具自主学习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LLM自我学习使用外部工具（计算器、搜索API等），开创性工作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工具调用能力自主获得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https://github.com/lucidrains/toolformer-pytorch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arXiv链接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推理-执行协同框架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推理与行动结合，协同优化，交互式任务决策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能力表现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推理-执行协同的交互式决策任务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887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https://github.com/ysymyth/ReAct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794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arXiv链接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综合对比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工具调用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多轮推理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训练效率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适用场景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7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多跳问答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Search-R1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信息检索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R1-Searcher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知识问答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对话系统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ReTool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代码任务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DeepResearcher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深度研究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ZeroSearch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低依赖场景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Agent-R1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动态决策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StepSearch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多跳推理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Multi-Turn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复杂工具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WebShop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网页交互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RL4LMs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原型开发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AgentBench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评估测试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Toolformer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工具学习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★★☆☆☆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★★★★☆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交互任务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选型建议：信息检索→ReSearch/Search-R1 | 代码/工具→ReTool/Toolformer | 复杂多轮→RAGEN/DeepResearcher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趋势预测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108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2651760" cy="548640"/>
          </a:xfrm>
          <a:prstGeom prst="rect">
            <a:avLst/>
          </a:prstGeom>
          <a:solidFill>
            <a:srgbClr val="3A86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RLVR成为主流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8346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可验证奖励范式广泛落地，数学、代码等领域率先突破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651760" cy="3108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463040"/>
            <a:ext cx="2651760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2027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1945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多模态AgentRL爆发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8346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视觉+语言+动作的多模态智能体框架涌现，工具生态完善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463040"/>
            <a:ext cx="2651760" cy="3108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463040"/>
            <a:ext cx="265176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2028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63640" y="21945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具身智能+自主学习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63640" y="28346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RL驱动的具身智能体普及，实现真正的自主学习和持续进化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2743200"/>
            <a:ext cx="4572000" cy="4572000"/>
          </a:xfrm>
          <a:prstGeom prst="ellipse">
            <a:avLst/>
          </a:prstGeom>
          <a:solidFill>
            <a:srgbClr val="0F4C7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3A86FF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417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 = Agent + 强化学习，解决复杂任务决策问题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4884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1488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15+开源项目覆盖搜索、工具调用、多轮推理等核心场景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8229600" cy="5943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8036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8720" y="28803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核心技术：RLVR、StarPO、PPO/GRPO等算法创新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企业落地建议：按场景选型，从小规模验证开始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8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谢谢观看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AgentRL调研</dc:title>
  <dc:subject>PptxGenJS Presentation</dc:subject>
  <dc:creator>AgentRL Research</dc:creator>
  <cp:lastModifiedBy>AgentRL Research</cp:lastModifiedBy>
  <cp:revision>1</cp:revision>
  <dcterms:created xsi:type="dcterms:W3CDTF">2026-03-30T09:42:05Z</dcterms:created>
  <dcterms:modified xsi:type="dcterms:W3CDTF">2026-03-30T09:42:05Z</dcterms:modified>
</cp:coreProperties>
</file>