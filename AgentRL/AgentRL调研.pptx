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00D4FF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2743200"/>
            <a:ext cx="4572000" cy="4572000"/>
          </a:xfrm>
          <a:prstGeom prst="ellipse">
            <a:avLst/>
          </a:prstGeom>
          <a:solidFill>
            <a:srgbClr val="8B5CF6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AgentRL 调研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+ 强化学习 技术趋势与项目分析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3566160"/>
            <a:ext cx="2743200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2026年3月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3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822960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场景诉求与痛点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4023360" cy="182880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097280"/>
            <a:ext cx="73152" cy="182880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2344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传统Agent的局限性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缺乏长期规划能力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无法从经验中学习改进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奖励函数设计困难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泛化能力有限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4023360" cy="182880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097280"/>
            <a:ext cx="73152" cy="1828800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0" y="12344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AgentRL的核心价值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29200" y="16916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通过RL实现自主决策优化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支持多轮交互持续改进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自动学习最优策略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更好的泛化与适应能力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" y="3108960"/>
            <a:ext cx="8412480" cy="173736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0080" y="32461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为什么需要AgentRL？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" y="370332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复杂任务需要Agent具备自我反思与策略优化能力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传统prompt工程难以覆盖所有场景，需要自适应学习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强化学习为Agent提供了一种从反馈中学习的方式，实现终身学习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3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82296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AgentRL 发展历程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7680960" cy="36576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6" name="Shape 4"/>
          <p:cNvSpPr/>
          <p:nvPr/>
        </p:nvSpPr>
        <p:spPr>
          <a:xfrm>
            <a:off x="1417320" y="2423160"/>
            <a:ext cx="274320" cy="27432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7373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2013-2017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RL基础阶段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237744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深度RL兴起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DQN、Policy Gradient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AlphaGo突破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37560" y="2423160"/>
            <a:ext cx="274320" cy="27432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1" name="Text 9"/>
          <p:cNvSpPr/>
          <p:nvPr/>
        </p:nvSpPr>
        <p:spPr>
          <a:xfrm>
            <a:off x="2834640" y="2926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2018-2020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834640" y="3246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LLM萌芽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43200" y="35661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GPT系列发布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BERT创新架构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预训练范式确立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57800" y="2423160"/>
            <a:ext cx="274320" cy="27432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5" name="Text 13"/>
          <p:cNvSpPr/>
          <p:nvPr/>
        </p:nvSpPr>
        <p:spPr>
          <a:xfrm>
            <a:off x="4754880" y="17373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2021-2022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5488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Agent初期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663440" y="237744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ChatGPT发布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ReAct、Toolformer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Agent概念形成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78040" y="2423160"/>
            <a:ext cx="274320" cy="274320"/>
          </a:xfrm>
          <a:prstGeom prst="ellipse">
            <a:avLst/>
          </a:prstGeom>
          <a:solidFill>
            <a:srgbClr val="00D4FF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0" y="2926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2023-2024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675120" y="3246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AgentRL融合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83680" y="35661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Voyager、Dromedary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RLHF广泛采用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自我反思Agent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从'能用'到'好用'，AgentRL正在让Agent真正具备自主学习与决策能力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137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dirty="0">
                <a:solidFill>
                  <a:srgbClr val="00D4FF">
                    <a:alpha val="50000"/>
                  </a:srgb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3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73152" cy="822960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ReCall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8412480" cy="457200"/>
          </a:xfrm>
          <a:prstGeom prst="rect">
            <a:avLst/>
          </a:prstGeom>
          <a:solidFill>
            <a:srgbClr val="1A1A3E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7899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GitHub: github.com/Agent-RL/ReCall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600200"/>
            <a:ext cx="4023360" cy="146304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48640" y="1691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项目定位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0116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通过强化学习训练LLM进行工具调用推理，是ReSearch的升级版本，支持任意用户定义工具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3200400"/>
            <a:ext cx="4023360" cy="164592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3291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技术特点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361188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基于verl框架的GRPO训练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合成数据生成多样化环境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支持多跳问答任务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Sandbox安全执行环境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54880" y="1600200"/>
            <a:ext cx="4023360" cy="146304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37760" y="1691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RL应用方式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37760" y="20116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使用GRPO(Group Relative Policy Optimization)强化学习算法，无需监督数据即可学习工具使用与推理能力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54880" y="3200400"/>
            <a:ext cx="4023360" cy="164592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937760" y="3291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核心能力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37760" y="361188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自主工具选择与组合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多步推理能力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代码执行与验证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跨任务泛化能力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137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dirty="0">
                <a:solidFill>
                  <a:srgbClr val="00D4FF">
                    <a:alpha val="50000"/>
                  </a:srgb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3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73152" cy="822960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Multi-Turn-RL-Agent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8412480" cy="457200"/>
          </a:xfrm>
          <a:prstGeom prst="rect">
            <a:avLst/>
          </a:prstGeom>
          <a:solidFill>
            <a:srgbClr val="1A1A3E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7899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GitHub: github.com/SiliangZeng/Multi-Turn-RL-Agent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600200"/>
            <a:ext cx="4023360" cy="146304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48640" y="1691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项目定位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0116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专注于多轮对话Agent的强化学习训练，通过回合级信用分配提升Agent决策质量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3200400"/>
            <a:ext cx="4023360" cy="164592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3291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技术特点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361188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MT-GRPO多轮GRPO变体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回合级奖励机制设计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支持Wikipedia搜索工具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基于verifiers框架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54880" y="1600200"/>
            <a:ext cx="4023360" cy="146304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37760" y="1691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RL应用方式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37760" y="20116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提出MT-GRPO算法，通过回合级优势估计解决多轮对话中的信用分配问题，结合结果奖励与过程奖励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54880" y="3200400"/>
            <a:ext cx="4023360" cy="164592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937760" y="3291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核心能力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37760" y="361188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多轮对话决策优化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细粒度信用分配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工具调用准确性提升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训练稳定性增强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137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dirty="0">
                <a:solidFill>
                  <a:srgbClr val="00D4FF">
                    <a:alpha val="50000"/>
                  </a:srgb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3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73152" cy="822960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Voyager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8412480" cy="457200"/>
          </a:xfrm>
          <a:prstGeom prst="rect">
            <a:avLst/>
          </a:prstGeom>
          <a:solidFill>
            <a:srgbClr val="1A1A3E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7899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GitHub: github.com/MineDojo/Voyager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600200"/>
            <a:ext cx="4023360" cy="146304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48640" y="1691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项目定位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0116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Minecraft中的终身学习Agent，通过迭代prompt机制实现技能习得与积累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3200400"/>
            <a:ext cx="4023360" cy="164592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3291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技术特点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361188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自动课程学习策略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可扩展技能代码库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迭代prompt机制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黑盒GPT-4调用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54880" y="1600200"/>
            <a:ext cx="4023360" cy="146304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37760" y="1691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RL应用方式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37760" y="20116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通过环境反馈、执行错误和自我验证进行迭代prompt优化，无需模型微调，实现终身学习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54880" y="3200400"/>
            <a:ext cx="4023360" cy="164592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937760" y="3291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核心能力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37760" y="361188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自主探索与发现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技能组合与泛化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避免灾难性遗忘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零样本任务迁移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137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dirty="0">
                <a:solidFill>
                  <a:srgbClr val="00D4FF">
                    <a:alpha val="50000"/>
                  </a:srgb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3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73152" cy="822960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verifiers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8412480" cy="457200"/>
          </a:xfrm>
          <a:prstGeom prst="rect">
            <a:avLst/>
          </a:prstGeom>
          <a:solidFill>
            <a:srgbClr val="1A1A3E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7899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GitHub: github.com/PrimeIntellect-ai/verifiers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600200"/>
            <a:ext cx="4023360" cy="146304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48640" y="1691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项目定位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0116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LLM强化学习环境库，提供标准API用于创建训练和评估LLM的环境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3200400"/>
            <a:ext cx="4023360" cy="164592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3291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技术特点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361188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统一的Environment接口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支持多类RL算法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集成多种工具调用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支持模型训练与评估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54880" y="1600200"/>
            <a:ext cx="4023360" cy="146304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37760" y="1691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RL应用方式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37760" y="20116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支持GRPO、PPO等多种RL算法，提供reward function定义框架，实现轨迹级训练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54880" y="3200400"/>
            <a:ext cx="4023360" cy="164592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937760" y="3291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核心能力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37760" y="361188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灵活的奖励函数设计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多环境支持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训练评估一体化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开源算法实现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137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dirty="0">
                <a:solidFill>
                  <a:srgbClr val="00D4FF">
                    <a:alpha val="50000"/>
                  </a:srgb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08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3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73152" cy="822960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verl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8412480" cy="457200"/>
          </a:xfrm>
          <a:prstGeom prst="rect">
            <a:avLst/>
          </a:prstGeom>
          <a:solidFill>
            <a:srgbClr val="1A1A3E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7899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GitHub: github.com/volcengine/verl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600200"/>
            <a:ext cx="4023360" cy="146304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48640" y="1691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项目定位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0116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字节跳动Seed团队开源的LLM RL训练框架，支持PPO、GRPO、DAPO等多种算法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3200400"/>
            <a:ext cx="4023360" cy="164592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3291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技术特点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361188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HybridFlow架构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3D-HybridEngine优化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支持vLLM/SGLang集成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FSDP/Megatron支持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54880" y="1600200"/>
            <a:ext cx="4023360" cy="146304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37760" y="1691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RL应用方式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37760" y="20116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支持PPO、GRPO、DAPO、VAPO等多种RL算法，实现训练推理一体化，支持多模态RL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54880" y="3200400"/>
            <a:ext cx="4023360" cy="164592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937760" y="3291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核心能力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37760" y="361188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大规模分布式训练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高效显存管理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多算法统一框架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生产级稳定性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137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dirty="0">
                <a:solidFill>
                  <a:srgbClr val="00D4FF">
                    <a:alpha val="50000"/>
                  </a:srgb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09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3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73152" cy="822960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DI-engine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8412480" cy="457200"/>
          </a:xfrm>
          <a:prstGeom prst="rect">
            <a:avLst/>
          </a:prstGeom>
          <a:solidFill>
            <a:srgbClr val="1A1A3E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7899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GitHub: github.com/opendilab/DI-engine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600200"/>
            <a:ext cx="4023360" cy="146304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48640" y="1691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项目定位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0116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OpenDILab开源的通用决策智能引擎，支持各类深度RL算法与应用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3200400"/>
            <a:ext cx="4023360" cy="164592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3291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技术特点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361188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Python原生设计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异步任务抽象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模块化架构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丰富算法支持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54880" y="1600200"/>
            <a:ext cx="4023360" cy="146304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37760" y="1691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RL应用方式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37760" y="20116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支持DQN、PPO、SAC、TD3、MAPPO等多种RL算法，以及离线RL、模型-based RL等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54880" y="3200400"/>
            <a:ext cx="4023360" cy="164592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937760" y="3291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核心能力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37760" y="361188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全谱RL算法覆盖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多领域应用支持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高效训练管线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标准化环境接口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137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dirty="0">
                <a:solidFill>
                  <a:srgbClr val="00D4FF">
                    <a:alpha val="50000"/>
                  </a:srgb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3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73152" cy="822960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项目对比矩阵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0584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645920"/>
                <a:gridCol w="1645920"/>
                <a:gridCol w="18288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项目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GitHub星数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RL算法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主要应用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特点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4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D4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需要查询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GRPO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工具调用推理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无需监督数据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3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D4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Multi-Turn-RL-Agent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需要查询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MT-GRPO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多轮对话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回合级信用分配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3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D4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Voyager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10k+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迭代Prompt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游戏AI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终身学习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3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D4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verifiers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需要查询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GRPO/PPO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环境库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标准化接口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3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D4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8k+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PPO/GRPO/DAPO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LLM训练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高效大规模训练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3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D4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DI-engine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AE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5k+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多算法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通用决策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全谱系算法覆盖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3E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891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选型建议：工具调用优先ReCall，多轮对话选Multi-Turn-RL-Agent，大规模训练用verl，游戏/终身学习选Voyager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137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dirty="0">
                <a:solidFill>
                  <a:srgbClr val="00D4FF">
                    <a:alpha val="50000"/>
                  </a:srgb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11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3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73152" cy="82296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未来发展趋势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051560"/>
            <a:ext cx="2651760" cy="173736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02920" y="1691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多模态AgentRL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20574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融合视觉、语言、动作的强化学习Agent将成主流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0" y="1051560"/>
            <a:ext cx="2651760" cy="173736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3756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337560" y="1691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在线学习与适应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37560" y="20574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Agent在部署后持续从交互中学习，适应动态环境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35040" y="1051560"/>
            <a:ext cx="2651760" cy="173736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17220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172200" y="1691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安全与对齐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172200" y="20574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RLHF与Constitutional AI结合，确保Agent行为安全可控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5760" y="2971800"/>
            <a:ext cx="2651760" cy="173736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0292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02920" y="3611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多Agent协作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39776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通过RL优化多Agent通信与协作策略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00400" y="2971800"/>
            <a:ext cx="2651760" cy="173736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33756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3337560" y="3611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世界模型融合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337560" y="39776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结合World Model提升样本效率和规划能力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035040" y="2971800"/>
            <a:ext cx="2651760" cy="173736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17220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6172200" y="3611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边缘部署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172200" y="39776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轻量级RL算法适配移动端与嵌入式设备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1828800"/>
            <a:ext cx="5486400" cy="5486400"/>
          </a:xfrm>
          <a:prstGeom prst="ellipse">
            <a:avLst/>
          </a:prstGeom>
          <a:solidFill>
            <a:srgbClr val="00D4FF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2743200"/>
            <a:ext cx="4572000" cy="4572000"/>
          </a:xfrm>
          <a:prstGeom prst="ellipse">
            <a:avLst/>
          </a:prstGeom>
          <a:solidFill>
            <a:srgbClr val="8B5CF6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总结与展望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3657600" y="1554480"/>
            <a:ext cx="1828800" cy="36576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1920240"/>
            <a:ext cx="7315200" cy="219456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88720" y="20574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核心结论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88720" y="2468880"/>
            <a:ext cx="6766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AgentRL是LLM Agent发展的重要方向，通过强化学习实现自主决策优化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当前已形成工具调用、多轮对话、终身学习等多个研究方向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verl、DI-engine等框架为AgentRL提供了基础设施支撑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安全可控的RL训练方法是未来落地的关键挑战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14400" y="4297680"/>
            <a:ext cx="7315200" cy="64008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188720" y="44348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展望：AgentRL将使AI Agent从'工具'进化为'伙伴'，真正具备自主学习、持续进化的问题解决能力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AgentRL调研</dc:title>
  <dc:subject>PptxGenJS Presentation</dc:subject>
  <dc:creator>AgentRL Research</dc:creator>
  <cp:lastModifiedBy>AgentRL Research</cp:lastModifiedBy>
  <cp:revision>1</cp:revision>
  <dcterms:created xsi:type="dcterms:W3CDTF">2026-03-30T08:45:13Z</dcterms:created>
  <dcterms:modified xsi:type="dcterms:W3CDTF">2026-03-30T08:45:13Z</dcterms:modified>
</cp:coreProperties>
</file>